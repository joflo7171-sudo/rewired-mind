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61264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[Room]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063240" cy="4480560"/>
          </a:xfrm>
          <a:prstGeom prst="rect">
            <a:avLst/>
          </a:prstGeom>
          <a:solidFill>
            <a:srgbClr val="F3F7F8"/>
          </a:solidFill>
          <a:ln w="19050">
            <a:solidFill>
              <a:srgbClr val="C9D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20040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6B7B83"/>
                </a:solidFill>
                <a:latin typeface="Arial"/>
              </a:rPr>
              <a:t>[ BEFORE ]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188720"/>
            <a:ext cx="3063240" cy="4480560"/>
          </a:xfrm>
          <a:prstGeom prst="rect">
            <a:avLst/>
          </a:prstGeom>
          <a:solidFill>
            <a:srgbClr val="F3F7F8"/>
          </a:solidFill>
          <a:ln w="19050">
            <a:solidFill>
              <a:srgbClr val="C9D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320040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6B7B83"/>
                </a:solidFill>
                <a:latin typeface="Arial"/>
              </a:rPr>
              <a:t>[ AFTER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325880"/>
            <a:ext cx="1005840" cy="365760"/>
          </a:xfrm>
          <a:prstGeom prst="round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25880"/>
            <a:ext cx="10058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325880"/>
            <a:ext cx="914400" cy="365760"/>
          </a:xfrm>
          <a:prstGeom prst="round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32588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80644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F4C5C"/>
                </a:solidFill>
                <a:latin typeface="Arial"/>
              </a:rPr>
              <a:t>[Service type]  ·  [time on site]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1792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E2A30"/>
                </a:solidFill>
                <a:latin typeface="Arial"/>
              </a:rPr>
              <a:t>[YOUR BUSINESS NAME]  ·  [Website]</a:t>
            </a:r>
          </a:p>
        </p:txBody>
      </p:sp>
      <p:sp>
        <p:nvSpPr>
          <p:cNvPr id="15" name="4-Point Star 14"/>
          <p:cNvSpPr/>
          <p:nvPr/>
        </p:nvSpPr>
        <p:spPr>
          <a:xfrm>
            <a:off x="6035040" y="5852160"/>
            <a:ext cx="548640" cy="548640"/>
          </a:xfrm>
          <a:prstGeom prst="star4">
            <a:avLst/>
          </a:prstGeom>
          <a:solidFill>
            <a:srgbClr val="2B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5669280" y="457200"/>
            <a:ext cx="731520" cy="731520"/>
          </a:xfrm>
          <a:prstGeom prst="star4">
            <a:avLst/>
          </a:prstGeom>
          <a:solidFill>
            <a:srgbClr val="2B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5212080" y="1280160"/>
            <a:ext cx="320040" cy="320040"/>
          </a:xfrm>
          <a:prstGeom prst="star4">
            <a:avLst/>
          </a:prstGeom>
          <a:solidFill>
            <a:srgbClr val="D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2BB3A3"/>
                </a:solidFill>
                <a:latin typeface="Arial"/>
              </a:rPr>
              <a:t>RECURRING 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76072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Never spend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Saturday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cleaning again.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57607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39496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 i="0">
                <a:solidFill>
                  <a:srgbClr val="0F4C5C"/>
                </a:solidFill>
                <a:latin typeface="Arial"/>
              </a:rPr>
              <a:t>Weekly · Every 2 weeks · Monthly</a:t>
            </a:r>
          </a:p>
          <a:p>
            <a:pPr algn="ctr"/>
            <a:r>
              <a:rPr sz="1500" b="1" i="0">
                <a:solidFill>
                  <a:srgbClr val="0F4C5C"/>
                </a:solidFill>
                <a:latin typeface="Arial"/>
              </a:rPr>
              <a:t>[Your recurring benefit, e.g., same team, priority scheduling]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15000"/>
            <a:ext cx="5760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D8F0EC"/>
                </a:solidFill>
                <a:latin typeface="Arial"/>
              </a:rPr>
              <a:t>Book at [Website]  ·  [Phone]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D8F0EC"/>
                </a:solidFill>
                <a:latin typeface="Arial"/>
              </a:rPr>
              <a:t>[Offer terms if any]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6035040" cy="6035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BB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 i="0">
                <a:solidFill>
                  <a:srgbClr val="2BB3A3"/>
                </a:solidFill>
                <a:latin typeface="Arial"/>
              </a:rPr>
              <a:t>NEW CLIENT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9496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800" b="1" i="0">
                <a:solidFill>
                  <a:srgbClr val="0F4C5C"/>
                </a:solidFill>
                <a:latin typeface="Arial"/>
              </a:rPr>
              <a:t>[Your offer]</a:t>
            </a:r>
          </a:p>
          <a:p>
            <a:pPr algn="ctr"/>
            <a:r>
              <a:rPr sz="3800" b="1" i="0">
                <a:solidFill>
                  <a:srgbClr val="0F4C5C"/>
                </a:solidFill>
                <a:latin typeface="Arial"/>
              </a:rPr>
              <a:t>on your first 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 i="0">
                <a:solidFill>
                  <a:srgbClr val="1E2A30"/>
                </a:solidFill>
                <a:latin typeface="Arial"/>
              </a:rPr>
              <a:t>Standard · Deep · Move-in/out</a:t>
            </a:r>
          </a:p>
          <a:p>
            <a:pPr algn="ctr"/>
            <a:r>
              <a:rPr sz="1600" b="0" i="0">
                <a:solidFill>
                  <a:srgbClr val="1E2A30"/>
                </a:solidFill>
                <a:latin typeface="Arial"/>
              </a:rPr>
              <a:t>Serving [Service Area]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4572000"/>
            <a:ext cx="3383280" cy="822960"/>
          </a:xfrm>
          <a:prstGeom prst="round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4572000"/>
            <a:ext cx="33832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Book: [Website]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B7B83"/>
                </a:solidFill>
                <a:latin typeface="Arial"/>
              </a:rPr>
              <a:t>[Offer terms, expiry date, eligibility — your wording]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2BB3A3"/>
                </a:solidFill>
                <a:latin typeface="Arial"/>
              </a:rPr>
              <a:t>CLEANING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66928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0F4C5C"/>
                </a:solidFill>
                <a:latin typeface="Arial"/>
              </a:rPr>
              <a:t>[Hook: a specific problem, e.g., 'Why your shower glass still looks cloudy']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566928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1E2A30"/>
                </a:solidFill>
                <a:latin typeface="Arial"/>
              </a:rPr>
              <a:t>1.  [Step one]</a:t>
            </a:r>
          </a:p>
          <a:p>
            <a:pPr algn="l"/>
            <a:r>
              <a:rPr sz="1800" b="0" i="0">
                <a:solidFill>
                  <a:srgbClr val="1E2A30"/>
                </a:solidFill>
                <a:latin typeface="Arial"/>
              </a:rPr>
              <a:t>2.  [Step two]</a:t>
            </a:r>
          </a:p>
          <a:p>
            <a:pPr algn="l"/>
            <a:r>
              <a:rPr sz="1800" b="0" i="0">
                <a:solidFill>
                  <a:srgbClr val="1E2A30"/>
                </a:solidFill>
                <a:latin typeface="Arial"/>
              </a:rPr>
              <a:t>3.  [Step three]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0F4C5C"/>
                </a:solidFill>
                <a:latin typeface="Arial"/>
              </a:rPr>
              <a:t>Save this for later  ·  [YOUR BUSINESS NAME]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600" b="1" i="0">
                <a:solidFill>
                  <a:srgbClr val="2BB3A3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39496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[Paste a REAL review, word for word, with the customer's permission.]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D8F0EC"/>
                </a:solidFill>
                <a:latin typeface="Arial"/>
              </a:rPr>
              <a:t>★★★★★  — [First name], [Area]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D8F0EC"/>
                </a:solidFill>
                <a:latin typeface="Arial"/>
              </a:rPr>
              <a:t>[YOUR BUSINESS NAME]  ·  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