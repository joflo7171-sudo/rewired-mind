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8862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862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43000" y="411480"/>
            <a:ext cx="1600200" cy="1600200"/>
          </a:xfrm>
          <a:prstGeom prst="ellipse">
            <a:avLst/>
          </a:prstGeom>
          <a:solidFill>
            <a:srgbClr val="F3F7F8"/>
          </a:solidFill>
          <a:ln>
            <a:solidFill>
              <a:srgbClr val="0F4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2057400"/>
            <a:ext cx="3520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00" b="0" i="0">
                <a:solidFill>
                  <a:srgbClr val="6B7B83"/>
                </a:solidFill>
                <a:latin typeface="Arial"/>
              </a:rPr>
              <a:t>(cut out circle for the door handle)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2560320"/>
            <a:ext cx="3886200" cy="329184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4-Point Star 5"/>
          <p:cNvSpPr/>
          <p:nvPr/>
        </p:nvSpPr>
        <p:spPr>
          <a:xfrm>
            <a:off x="3017520" y="2743200"/>
            <a:ext cx="457200" cy="457200"/>
          </a:xfrm>
          <a:prstGeom prst="star4">
            <a:avLst/>
          </a:prstGeom>
          <a:solidFill>
            <a:srgbClr val="2B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283464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D8F0EC"/>
                </a:solidFill>
                <a:latin typeface="Arial"/>
              </a:rPr>
              <a:t>HI, NEIGHBOR!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200400"/>
            <a:ext cx="338328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We're cleaning</a:t>
            </a:r>
          </a:p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homes on your</a:t>
            </a:r>
          </a:p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street this week.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512064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D8F0EC"/>
                </a:solidFill>
                <a:latin typeface="Arial"/>
              </a:rPr>
              <a:t>[YOUR BUSINESS NAME]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080760"/>
            <a:ext cx="338328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1E2A30"/>
                </a:solidFill>
                <a:latin typeface="Arial"/>
              </a:rPr>
              <a:t>✓  Standard &amp; deep cleaning</a:t>
            </a:r>
          </a:p>
          <a:p>
            <a:pPr algn="l"/>
            <a:r>
              <a:rPr sz="1300" b="0" i="0">
                <a:solidFill>
                  <a:srgbClr val="1E2A30"/>
                </a:solidFill>
                <a:latin typeface="Arial"/>
              </a:rPr>
              <a:t>✓  Move-in / move-out</a:t>
            </a:r>
          </a:p>
          <a:p>
            <a:pPr algn="l"/>
            <a:r>
              <a:rPr sz="1300" b="0" i="0">
                <a:solidFill>
                  <a:srgbClr val="1E2A30"/>
                </a:solidFill>
                <a:latin typeface="Arial"/>
              </a:rPr>
              <a:t>✓  Recurring plans</a:t>
            </a:r>
          </a:p>
          <a:p>
            <a:pPr algn="l"/>
            <a:r>
              <a:rPr sz="1300" b="0" i="0">
                <a:solidFill>
                  <a:srgbClr val="1E2A30"/>
                </a:solidFill>
                <a:latin typeface="Arial"/>
              </a:rPr>
              <a:t>✓  [Your differentiator]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8138160"/>
            <a:ext cx="3337560" cy="146304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8229600"/>
            <a:ext cx="3154680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[New-client offer]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Scan or call [Phone]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86200" cy="100584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43000" y="411480"/>
            <a:ext cx="1600200" cy="1600200"/>
          </a:xfrm>
          <a:prstGeom prst="ellipse">
            <a:avLst/>
          </a:prstGeom>
          <a:solidFill>
            <a:srgbClr val="FFFFFF"/>
          </a:solidFill>
          <a:ln>
            <a:solidFill>
              <a:srgbClr val="0F4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56032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2BB3A3"/>
                </a:solidFill>
                <a:latin typeface="Arial"/>
              </a:rPr>
              <a:t>WHAT'S INCLUDED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017520"/>
            <a:ext cx="338328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1E2A30"/>
                </a:solidFill>
                <a:latin typeface="Arial"/>
              </a:rPr>
              <a:t>Kitchen: counters, sink, appliance fronts, floors</a:t>
            </a:r>
          </a:p>
          <a:p>
            <a:pPr algn="l"/>
            <a:r>
              <a:rPr sz="1200" b="0" i="0">
                <a:solidFill>
                  <a:srgbClr val="1E2A30"/>
                </a:solidFill>
                <a:latin typeface="Arial"/>
              </a:rPr>
              <a:t/>
            </a:r>
          </a:p>
          <a:p>
            <a:pPr algn="l"/>
            <a:r>
              <a:rPr sz="1200" b="0" i="0">
                <a:solidFill>
                  <a:srgbClr val="1E2A30"/>
                </a:solidFill>
                <a:latin typeface="Arial"/>
              </a:rPr>
              <a:t>Bathrooms: toilets, tubs, showers, mirrors, floors</a:t>
            </a:r>
          </a:p>
          <a:p>
            <a:pPr algn="l"/>
            <a:r>
              <a:rPr sz="1200" b="0" i="0">
                <a:solidFill>
                  <a:srgbClr val="1E2A30"/>
                </a:solidFill>
                <a:latin typeface="Arial"/>
              </a:rPr>
              <a:t/>
            </a:r>
          </a:p>
          <a:p>
            <a:pPr algn="l"/>
            <a:r>
              <a:rPr sz="1200" b="0" i="0">
                <a:solidFill>
                  <a:srgbClr val="1E2A30"/>
                </a:solidFill>
                <a:latin typeface="Arial"/>
              </a:rPr>
              <a:t>Living areas: dusting, surfaces, floors</a:t>
            </a:r>
          </a:p>
          <a:p>
            <a:pPr algn="l"/>
            <a:r>
              <a:rPr sz="1200" b="0" i="0">
                <a:solidFill>
                  <a:srgbClr val="1E2A30"/>
                </a:solidFill>
                <a:latin typeface="Arial"/>
              </a:rPr>
              <a:t/>
            </a:r>
          </a:p>
          <a:p>
            <a:pPr algn="l"/>
            <a:r>
              <a:rPr sz="1200" b="0" i="0">
                <a:solidFill>
                  <a:srgbClr val="1E2A30"/>
                </a:solidFill>
                <a:latin typeface="Arial"/>
              </a:rPr>
              <a:t>[Edit to match your checklist]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6400800"/>
            <a:ext cx="333756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3154680" cy="1554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100" b="0" i="1">
                <a:solidFill>
                  <a:srgbClr val="0F4C5C"/>
                </a:solidFill>
                <a:latin typeface="Arial"/>
              </a:rPr>
              <a:t>"[Real customer quote — only with permission]"</a:t>
            </a:r>
          </a:p>
          <a:p>
            <a:pPr algn="ctr"/>
            <a:r>
              <a:rPr sz="1100" b="0" i="1">
                <a:solidFill>
                  <a:srgbClr val="0F4C5C"/>
                </a:solidFill>
                <a:latin typeface="Arial"/>
              </a:rPr>
              <a:t>— [First name], [Area]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8229600"/>
            <a:ext cx="132588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8686800"/>
            <a:ext cx="1325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0F4C5C"/>
                </a:solidFill>
                <a:latin typeface="Arial"/>
              </a:rPr>
              <a:t>[QR]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" y="9601200"/>
            <a:ext cx="35204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1" i="0">
                <a:solidFill>
                  <a:srgbClr val="0F4C5C"/>
                </a:solidFill>
                <a:latin typeface="Arial"/>
              </a:rPr>
              <a:t>[Website]  ·  [Phone]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