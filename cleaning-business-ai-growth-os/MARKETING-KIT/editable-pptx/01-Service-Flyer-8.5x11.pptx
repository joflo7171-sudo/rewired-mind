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329184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6400800" y="457200"/>
            <a:ext cx="731520" cy="731520"/>
          </a:xfrm>
          <a:prstGeom prst="star4">
            <a:avLst/>
          </a:prstGeom>
          <a:solidFill>
            <a:srgbClr val="2BB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7040880" y="1188720"/>
            <a:ext cx="365760" cy="365760"/>
          </a:xfrm>
          <a:prstGeom prst="star4">
            <a:avLst/>
          </a:prstGeom>
          <a:solidFill>
            <a:srgbClr val="D8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5760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D8F0EC"/>
                </a:solidFill>
                <a:latin typeface="Arial"/>
              </a:rPr>
              <a:t>[YOUR BUSINESS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6400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Come home to a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clean 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 i="0">
                <a:solidFill>
                  <a:srgbClr val="D8F0EC"/>
                </a:solidFill>
                <a:latin typeface="Arial"/>
              </a:rPr>
              <a:t>Reliable residential cleaning in [Service Area]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11880"/>
            <a:ext cx="3200400" cy="2377440"/>
          </a:xfrm>
          <a:prstGeom prst="rect">
            <a:avLst/>
          </a:prstGeom>
          <a:solidFill>
            <a:srgbClr val="F3F7F8"/>
          </a:solidFill>
          <a:ln w="19050">
            <a:solidFill>
              <a:srgbClr val="C9D3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6B7B83"/>
                </a:solidFill>
                <a:latin typeface="Arial"/>
              </a:rPr>
              <a:t>[ PHOTO: your team or a clean room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6118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 i="0">
                <a:solidFill>
                  <a:srgbClr val="2BB3A3"/>
                </a:solidFill>
                <a:latin typeface="Arial"/>
              </a:rP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977639"/>
            <a:ext cx="32918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•  Standard cleaning</a:t>
            </a:r>
          </a:p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•  Deep cleaning</a:t>
            </a:r>
          </a:p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•  Move-in / move-out</a:t>
            </a:r>
          </a:p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•  Short-term rental turnovers</a:t>
            </a:r>
          </a:p>
          <a:p>
            <a:pPr algn="l"/>
            <a:r>
              <a:rPr sz="1400" b="0" i="0">
                <a:solidFill>
                  <a:srgbClr val="1E2A30"/>
                </a:solidFill>
                <a:latin typeface="Arial"/>
              </a:rPr>
              <a:t>•  Weekly, biweekly or monthly plans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263640"/>
            <a:ext cx="6675120" cy="132588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Same team,</a:t>
            </a:r>
          </a:p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every visit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63550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Room-by-room</a:t>
            </a:r>
          </a:p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6355080"/>
            <a:ext cx="210312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[Your</a:t>
            </a:r>
          </a:p>
          <a:p>
            <a:pPr algn="ctr"/>
            <a:r>
              <a:rPr sz="1500" b="1" i="0">
                <a:solidFill>
                  <a:srgbClr val="0F4C5C"/>
                </a:solidFill>
                <a:latin typeface="Arial"/>
              </a:rPr>
              <a:t>differentiator]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7863840"/>
            <a:ext cx="6675120" cy="1463040"/>
          </a:xfrm>
          <a:prstGeom prst="roundRect">
            <a:avLst/>
          </a:prstGeom>
          <a:solidFill>
            <a:srgbClr val="2BB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7955279"/>
            <a:ext cx="4206240" cy="12801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Get your free quote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[Phone]  ·  [Website]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8001000"/>
            <a:ext cx="128016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836676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 i="0">
                <a:solidFill>
                  <a:srgbClr val="0F4C5C"/>
                </a:solidFill>
                <a:latin typeface="Arial"/>
              </a:rPr>
              <a:t>[QR]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9555480"/>
            <a:ext cx="6675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800" b="0" i="0">
                <a:solidFill>
                  <a:srgbClr val="6B7B83"/>
                </a:solidFill>
                <a:latin typeface="Arial"/>
              </a:rPr>
              <a:t>[Optional offer line — terms and dates]   ·   [License/insurance statement only if true for you]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